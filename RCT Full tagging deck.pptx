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08" r:id="rId3"/>
    <p:sldId id="2609" r:id="rId4"/>
    <p:sldId id="2610" r:id="rId5"/>
    <p:sldId id="2611" r:id="rId6"/>
    <p:sldId id="2613" r:id="rId7"/>
    <p:sldId id="261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2B6234-FB43-46D7-9730-AB43F4EB7452}" v="6" dt="2026-02-26T06:15:04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>
        <p:scale>
          <a:sx n="130" d="100"/>
          <a:sy n="130" d="100"/>
        </p:scale>
        <p:origin x="108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shti Srivastava (TMNA)" userId="7fc8f25a-1d1e-407c-b305-5193442acfd3" providerId="ADAL" clId="{FFD383DC-0185-4EBB-BBE0-E78ED28CC55E}"/>
    <pc:docChg chg="custSel addSld modSld">
      <pc:chgData name="Srishti Srivastava (TMNA)" userId="7fc8f25a-1d1e-407c-b305-5193442acfd3" providerId="ADAL" clId="{FFD383DC-0185-4EBB-BBE0-E78ED28CC55E}" dt="2026-02-26T06:15:52.056" v="44" actId="20577"/>
      <pc:docMkLst>
        <pc:docMk/>
      </pc:docMkLst>
      <pc:sldChg chg="modSp mod">
        <pc:chgData name="Srishti Srivastava (TMNA)" userId="7fc8f25a-1d1e-407c-b305-5193442acfd3" providerId="ADAL" clId="{FFD383DC-0185-4EBB-BBE0-E78ED28CC55E}" dt="2026-02-25T16:57:17.916" v="12" actId="20577"/>
        <pc:sldMkLst>
          <pc:docMk/>
          <pc:sldMk cId="53784882" sldId="2608"/>
        </pc:sldMkLst>
        <pc:spChg chg="mod">
          <ac:chgData name="Srishti Srivastava (TMNA)" userId="7fc8f25a-1d1e-407c-b305-5193442acfd3" providerId="ADAL" clId="{FFD383DC-0185-4EBB-BBE0-E78ED28CC55E}" dt="2026-02-25T16:57:17.916" v="12" actId="20577"/>
          <ac:spMkLst>
            <pc:docMk/>
            <pc:sldMk cId="53784882" sldId="2608"/>
            <ac:spMk id="3" creationId="{00000000-0000-0000-0000-000000000000}"/>
          </ac:spMkLst>
        </pc:spChg>
      </pc:sldChg>
      <pc:sldChg chg="addSp delSp modSp mod">
        <pc:chgData name="Srishti Srivastava (TMNA)" userId="7fc8f25a-1d1e-407c-b305-5193442acfd3" providerId="ADAL" clId="{FFD383DC-0185-4EBB-BBE0-E78ED28CC55E}" dt="2026-02-26T06:15:52.056" v="44" actId="20577"/>
        <pc:sldMkLst>
          <pc:docMk/>
          <pc:sldMk cId="1672154774" sldId="2611"/>
        </pc:sldMkLst>
        <pc:spChg chg="del mod">
          <ac:chgData name="Srishti Srivastava (TMNA)" userId="7fc8f25a-1d1e-407c-b305-5193442acfd3" providerId="ADAL" clId="{FFD383DC-0185-4EBB-BBE0-E78ED28CC55E}" dt="2026-02-26T06:15:41.673" v="42" actId="478"/>
          <ac:spMkLst>
            <pc:docMk/>
            <pc:sldMk cId="1672154774" sldId="2611"/>
            <ac:spMk id="5" creationId="{39368461-4957-79C0-1B90-F2C0ADC0134D}"/>
          </ac:spMkLst>
        </pc:spChg>
        <pc:graphicFrameChg chg="mod">
          <ac:chgData name="Srishti Srivastava (TMNA)" userId="7fc8f25a-1d1e-407c-b305-5193442acfd3" providerId="ADAL" clId="{FFD383DC-0185-4EBB-BBE0-E78ED28CC55E}" dt="2026-02-26T06:14:25.624" v="34"/>
          <ac:graphicFrameMkLst>
            <pc:docMk/>
            <pc:sldMk cId="1672154774" sldId="2611"/>
            <ac:graphicFrameMk id="12" creationId="{C0405BE2-2241-68D2-9537-79CEDD1A476D}"/>
          </ac:graphicFrameMkLst>
        </pc:graphicFrameChg>
        <pc:graphicFrameChg chg="mod modGraphic">
          <ac:chgData name="Srishti Srivastava (TMNA)" userId="7fc8f25a-1d1e-407c-b305-5193442acfd3" providerId="ADAL" clId="{FFD383DC-0185-4EBB-BBE0-E78ED28CC55E}" dt="2026-02-26T06:15:52.056" v="44" actId="20577"/>
          <ac:graphicFrameMkLst>
            <pc:docMk/>
            <pc:sldMk cId="1672154774" sldId="2611"/>
            <ac:graphicFrameMk id="19" creationId="{334C6809-2AC3-4B6E-BA41-03BA6410E63F}"/>
          </ac:graphicFrameMkLst>
        </pc:graphicFrameChg>
        <pc:picChg chg="del">
          <ac:chgData name="Srishti Srivastava (TMNA)" userId="7fc8f25a-1d1e-407c-b305-5193442acfd3" providerId="ADAL" clId="{FFD383DC-0185-4EBB-BBE0-E78ED28CC55E}" dt="2026-02-26T06:11:51.558" v="14" actId="478"/>
          <ac:picMkLst>
            <pc:docMk/>
            <pc:sldMk cId="1672154774" sldId="2611"/>
            <ac:picMk id="2" creationId="{0DDE1146-FA4B-9037-C37E-4E0E1F31BB1E}"/>
          </ac:picMkLst>
        </pc:picChg>
        <pc:picChg chg="add del mod">
          <ac:chgData name="Srishti Srivastava (TMNA)" userId="7fc8f25a-1d1e-407c-b305-5193442acfd3" providerId="ADAL" clId="{FFD383DC-0185-4EBB-BBE0-E78ED28CC55E}" dt="2026-02-26T06:12:05.595" v="18" actId="478"/>
          <ac:picMkLst>
            <pc:docMk/>
            <pc:sldMk cId="1672154774" sldId="2611"/>
            <ac:picMk id="8" creationId="{E5C5FF5A-440A-5471-7112-2ECBE2E29DD1}"/>
          </ac:picMkLst>
        </pc:picChg>
        <pc:picChg chg="add mod">
          <ac:chgData name="Srishti Srivastava (TMNA)" userId="7fc8f25a-1d1e-407c-b305-5193442acfd3" providerId="ADAL" clId="{FFD383DC-0185-4EBB-BBE0-E78ED28CC55E}" dt="2026-02-26T06:12:38.799" v="21" actId="14100"/>
          <ac:picMkLst>
            <pc:docMk/>
            <pc:sldMk cId="1672154774" sldId="2611"/>
            <ac:picMk id="13" creationId="{038519E2-D30B-0CA7-81C1-85BFAEDEEE91}"/>
          </ac:picMkLst>
        </pc:picChg>
        <pc:cxnChg chg="del mod">
          <ac:chgData name="Srishti Srivastava (TMNA)" userId="7fc8f25a-1d1e-407c-b305-5193442acfd3" providerId="ADAL" clId="{FFD383DC-0185-4EBB-BBE0-E78ED28CC55E}" dt="2026-02-26T06:15:44.229" v="43" actId="478"/>
          <ac:cxnSpMkLst>
            <pc:docMk/>
            <pc:sldMk cId="1672154774" sldId="2611"/>
            <ac:cxnSpMk id="6" creationId="{47FEC288-A4BB-4FD8-49A0-E948ED88087C}"/>
          </ac:cxnSpMkLst>
        </pc:cxnChg>
        <pc:cxnChg chg="add del mod">
          <ac:chgData name="Srishti Srivastava (TMNA)" userId="7fc8f25a-1d1e-407c-b305-5193442acfd3" providerId="ADAL" clId="{FFD383DC-0185-4EBB-BBE0-E78ED28CC55E}" dt="2026-02-26T06:13:22.917" v="26" actId="478"/>
          <ac:cxnSpMkLst>
            <pc:docMk/>
            <pc:sldMk cId="1672154774" sldId="2611"/>
            <ac:cxnSpMk id="14" creationId="{9F6EA5BB-2BDD-DC83-FA3B-2E13116A838A}"/>
          </ac:cxnSpMkLst>
        </pc:cxnChg>
      </pc:sldChg>
      <pc:sldChg chg="add">
        <pc:chgData name="Srishti Srivastava (TMNA)" userId="7fc8f25a-1d1e-407c-b305-5193442acfd3" providerId="ADAL" clId="{FFD383DC-0185-4EBB-BBE0-E78ED28CC55E}" dt="2026-02-26T05:43:20.557" v="13"/>
        <pc:sldMkLst>
          <pc:docMk/>
          <pc:sldMk cId="562395804" sldId="26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900AF-18B2-4DDA-A073-C034A754736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6DF4F-45B0-4D9C-9A41-B949199AC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02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29AF1-4187-4479-88E6-56E44B7746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28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29AF1-4187-4479-88E6-56E44B7746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0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A9E4C-F235-4F62-B53D-4D1E5E8D4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812F1-C835-4245-961A-91DB52F429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C5236-467B-464B-A24D-E55BE2393C2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1DCD65D-743E-40F1-84E1-91FF437CD08A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887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DF33-0744-9579-87FB-0DC66D57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62A7-9647-B8C0-9576-80B27218C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85AD-AE97-0FA0-283B-D1FE31BA154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F96C0-005C-950A-C361-7D02CD57143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1DCD65D-743E-40F1-84E1-91FF437CD08A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55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47FD-4D7B-C383-4CF6-B03617CE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87DA8-95DB-B300-FC1E-582C387DC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0C17D-9DDB-DDD6-9F8E-D3C47F88EF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BE831-3E02-228F-64A9-12F41CD80BF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1DCD65D-743E-40F1-84E1-91FF437CD08A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86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0F01-5D8A-1538-309D-ACD6BDBA6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37424-6DC3-C356-54F1-689AB3A0C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14101-B445-3757-C3A1-FF15FCC8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A2778-6AED-C861-9D45-A8ED0EE3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4CEC1-15AF-6E99-FC8D-09928669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8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64A5-79A8-486C-700B-8B996637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55A1B-F139-5827-4FEB-BC95B8F6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0AE3F-00FF-CFF6-4865-E84E7F7A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FA3-8F96-EEF5-6DAC-493B2A479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9D636-C78D-C21B-1CD7-5610AAD1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6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15AC-0E88-72CE-7C7B-79DC64AB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D6E85-3D89-D9E6-6E1F-79A21FDB2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EDA06-FCF1-0902-5658-BFD2C693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7607-0E8F-C6EB-2E46-B962376D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5D79-93D1-FE86-0E1A-26202E64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7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5BA1-3913-0349-4B33-76AF1F2E9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5CC-1B3A-2510-0F6E-E61ABCAA7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85831-E52E-8259-2A40-8E5FBBDFA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B0292-EF22-EA9D-5851-6A4F35778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AF1E8-7543-F8AB-A317-83F7362E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3CC03-2ECD-415B-968F-8DD806A0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0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5D7A-E655-F641-C304-62E57CD6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C35D2-BEE7-6C00-014B-8966FBE72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D88ED-4CDF-B36A-CB4C-CF5867F3B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8EC89-693C-F9B9-87D9-771C8F667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0503F-1A83-7200-9A1C-FD2776C01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9E490D-2F17-7F36-ADCF-8061487F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22156-451A-FA75-5103-5EAE08811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133BF9-B8DF-43DB-8728-D67A1DFD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7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C771-8F92-19E4-0A89-E2A890F1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308BC-2074-610B-A359-B30BF8AF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F6D81-8214-F2F9-09BD-6D2F6A6EA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0A31F-29DA-B2C4-EB4F-B5087552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8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7AF89-47F5-8A76-E8C4-620DE8E5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CA2EF-2756-F0EB-1AC6-E2321CD0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EC569-F9F8-45E2-74E3-30CA1F95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0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81E3-137D-92DA-B265-E109EC61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CC3EA-B7E7-BB8A-2B11-6FE09305E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9E120-B77D-70C0-5AFA-DFC67B3EE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2174F-9A2A-8EBF-03E3-DD45B758F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49DE9-C691-C6FC-604B-A08EB38F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D9E1D-5230-E6C4-7A08-520DE9DD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0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AC20-EB80-7FDE-A686-668A52090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800F7-9AAB-8532-AAEC-E4B722B0E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3B93B-A63E-3F5D-CCEA-E4362D8BD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EE542-1C51-BA5C-5586-9578DD48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54CDD-12C0-985C-FC68-3392AB25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81C71-3A7A-8120-B07C-AE182CD1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9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870D-001D-2CDD-99AC-8DA579F9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42CF0-1686-4F43-0720-16B0903A0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9011B-747B-2BF9-D1D3-3D41869C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22C36-790D-C210-FA0E-21D3B0C7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5A176-166B-F7AE-C09A-E487E78E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6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F5109-145C-A3D6-8B0F-8AB0650B2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D4F79-3DDB-0BA6-EF69-DB9B418B3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886FF-2DB7-CE83-84F0-72623C9E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7DC84-F382-1981-7FF4-3E722E2F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2E91D-965F-DA3A-328B-1752E663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4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80213"/>
            <a:ext cx="5522059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4008019" y="6320271"/>
            <a:ext cx="5029199" cy="30777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algn="ctr" defTabSz="609585" rtl="0" eaLnBrk="0" latinLnBrk="0" hangingPunct="0">
              <a:defRPr/>
            </a:pPr>
            <a:r>
              <a:rPr lang="en-US" sz="1200" kern="120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© 2025,  Cognizant. All Rights Reserved.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020" y="299360"/>
            <a:ext cx="1699445" cy="39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1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2390F7E-B45C-4E2F-9AAC-EE5C94CED4C0}"/>
              </a:ext>
            </a:extLst>
          </p:cNvPr>
          <p:cNvSpPr/>
          <p:nvPr/>
        </p:nvSpPr>
        <p:spPr>
          <a:xfrm>
            <a:off x="0" y="1"/>
            <a:ext cx="12191996" cy="605927"/>
          </a:xfrm>
          <a:prstGeom prst="rect">
            <a:avLst/>
          </a:prstGeom>
          <a:solidFill>
            <a:srgbClr val="F9F9F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5102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9" b="1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71FA466-8C1C-416F-999E-6977CCD2EF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846" y="62124"/>
            <a:ext cx="11858762" cy="4889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defTabSz="89056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2004" b="0" i="0" u="none" strike="noStrike" cap="all" spc="0" baseline="0">
                <a:solidFill>
                  <a:srgbClr val="FF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064042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ABD38-590A-DB65-A8B9-4A701C97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5B30A-F851-566A-EEAC-81A0AA66A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44B00-957D-9965-3518-0D12E5656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9329D-8235-4044-81E7-F69F76C721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1E011-1CE2-E9D4-F024-1CDB07D02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D4BB4-7ED1-95B4-1756-DA0C22A35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DA018-E345-4D81-A35A-85AB3B7ED9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CA56C-8E97-28C5-FD66-66C021A01E5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458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Meiyo"/>
              </a:rPr>
              <a:t>•• PROTECTED 関係者外秘</a:t>
            </a:r>
          </a:p>
        </p:txBody>
      </p:sp>
    </p:spTree>
    <p:extLst>
      <p:ext uri="{BB962C8B-B14F-4D97-AF65-F5344CB8AC3E}">
        <p14:creationId xmlns:p14="http://schemas.microsoft.com/office/powerpoint/2010/main" val="254777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UAGedExUcBVTWT2HYegrrM/KBB-In-Page-Experience?node-id=1-160&amp;p=f&amp;t=R4dINSXEC2Z5DBGB-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C505-88DC-DA02-24F4-370D7F975D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02F6A-0852-A44F-0675-59A0033187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7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572000" y="1275913"/>
            <a:ext cx="6941649" cy="1569660"/>
          </a:xfr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b="0" cap="all" dirty="0">
                <a:latin typeface="Calibri"/>
                <a:ea typeface="Calibri"/>
                <a:cs typeface="Calibri"/>
              </a:rPr>
              <a:t>Toyota Motor North America</a:t>
            </a:r>
          </a:p>
          <a:p>
            <a:pPr>
              <a:spcBef>
                <a:spcPts val="0"/>
              </a:spcBef>
            </a:pPr>
            <a:r>
              <a:rPr lang="en-US" cap="all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TAGGING DECK FOR </a:t>
            </a:r>
            <a:br>
              <a:rPr lang="en-US" cap="all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</a:br>
            <a:r>
              <a:rPr lang="en-US" cap="all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RCT</a:t>
            </a:r>
          </a:p>
        </p:txBody>
      </p:sp>
      <p:sp>
        <p:nvSpPr>
          <p:cNvPr id="2" name="Rectangle 1"/>
          <p:cNvSpPr/>
          <p:nvPr/>
        </p:nvSpPr>
        <p:spPr>
          <a:xfrm>
            <a:off x="12105640" y="1371600"/>
            <a:ext cx="91440" cy="1737360"/>
          </a:xfrm>
          <a:prstGeom prst="rect">
            <a:avLst/>
          </a:prstGeom>
          <a:solidFill>
            <a:srgbClr val="DA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560" y="6054321"/>
            <a:ext cx="1645920" cy="38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4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2C6C-B9EB-0614-7BC9-D40C44656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TAGGING DECK REFERENCE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1A0A23-CEDA-25C7-3D0D-33C429306238}"/>
              </a:ext>
            </a:extLst>
          </p:cNvPr>
          <p:cNvGraphicFramePr>
            <a:graphicFrameLocks noGrp="1"/>
          </p:cNvGraphicFramePr>
          <p:nvPr/>
        </p:nvGraphicFramePr>
        <p:xfrm>
          <a:off x="1553617" y="1425906"/>
          <a:ext cx="9165220" cy="1280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36513">
                  <a:extLst>
                    <a:ext uri="{9D8B030D-6E8A-4147-A177-3AD203B41FA5}">
                      <a16:colId xmlns:a16="http://schemas.microsoft.com/office/drawing/2014/main" val="1627595265"/>
                    </a:ext>
                  </a:extLst>
                </a:gridCol>
                <a:gridCol w="6534127">
                  <a:extLst>
                    <a:ext uri="{9D8B030D-6E8A-4147-A177-3AD203B41FA5}">
                      <a16:colId xmlns:a16="http://schemas.microsoft.com/office/drawing/2014/main" val="4169080911"/>
                    </a:ext>
                  </a:extLst>
                </a:gridCol>
                <a:gridCol w="1594580">
                  <a:extLst>
                    <a:ext uri="{9D8B030D-6E8A-4147-A177-3AD203B41FA5}">
                      <a16:colId xmlns:a16="http://schemas.microsoft.com/office/drawing/2014/main" val="3830002765"/>
                    </a:ext>
                  </a:extLst>
                </a:gridCol>
              </a:tblGrid>
              <a:tr h="16388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971488"/>
                  </a:ext>
                </a:extLst>
              </a:tr>
              <a:tr h="51322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Initial version(v1)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200" b="0"/>
                        <a:t>Figma Link – </a:t>
                      </a:r>
                      <a:r>
                        <a:rPr lang="en-IN" sz="1200">
                          <a:hlinkClick r:id="rId3"/>
                        </a:rPr>
                        <a:t>KBB In-Page Experience – Figma</a:t>
                      </a:r>
                      <a:endParaRPr lang="en-IN" sz="12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 September 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7765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5D83DC-2A63-E022-D2D7-93202DBEDE09}"/>
              </a:ext>
            </a:extLst>
          </p:cNvPr>
          <p:cNvSpPr txBox="1"/>
          <p:nvPr/>
        </p:nvSpPr>
        <p:spPr>
          <a:xfrm>
            <a:off x="896092" y="3852949"/>
            <a:ext cx="104802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>
                <a:solidFill>
                  <a:srgbClr val="FF0000"/>
                </a:solidFill>
              </a:rPr>
              <a:t>Important Instructions</a:t>
            </a:r>
            <a:endParaRPr lang="en-US" sz="1800"/>
          </a:p>
          <a:p>
            <a:r>
              <a:rPr lang="en-US" sz="1800"/>
              <a:t>1) The same tags documented in this tagging deck are applicable for the mobile site as well</a:t>
            </a:r>
          </a:p>
        </p:txBody>
      </p:sp>
    </p:spTree>
    <p:extLst>
      <p:ext uri="{BB962C8B-B14F-4D97-AF65-F5344CB8AC3E}">
        <p14:creationId xmlns:p14="http://schemas.microsoft.com/office/powerpoint/2010/main" val="91131511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863B59-6F9A-CBCD-8910-71517BCD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026F8-BA41-3C1C-71D2-ECDC17461D78}"/>
              </a:ext>
            </a:extLst>
          </p:cNvPr>
          <p:cNvSpPr txBox="1"/>
          <p:nvPr/>
        </p:nvSpPr>
        <p:spPr>
          <a:xfrm>
            <a:off x="206846" y="696564"/>
            <a:ext cx="11178897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400"/>
              <a:t>Track KBB Trade In Page Views and Tool Engagement – </a:t>
            </a:r>
            <a:r>
              <a:rPr lang="en-US" sz="1400" b="1"/>
              <a:t>Slide # 4</a:t>
            </a:r>
            <a:endParaRPr lang="en-US" sz="140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400"/>
              <a:t>Track Step by Step Interactions and Engagement – </a:t>
            </a:r>
            <a:r>
              <a:rPr lang="en-US" sz="1400" b="1"/>
              <a:t>Slide # 4-13</a:t>
            </a:r>
            <a:endParaRPr lang="en-US" sz="140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400"/>
              <a:t>Step 1 - Usage of Make &amp; Model and VIN – </a:t>
            </a:r>
            <a:r>
              <a:rPr lang="en-US" sz="1400" b="1"/>
              <a:t>Slide # 4-7</a:t>
            </a:r>
            <a:endParaRPr lang="en-US" sz="140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400"/>
              <a:t>Step 2 - Vehicle Condition, Options and Ownership Info – </a:t>
            </a:r>
            <a:r>
              <a:rPr lang="en-US" sz="1400" b="1"/>
              <a:t>Slide # 8-10</a:t>
            </a:r>
            <a:endParaRPr lang="en-US" sz="140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400"/>
              <a:t>Step 3 - Lead Gate -  Vehicle of Interest, Contact Info and Lead Submission – </a:t>
            </a:r>
            <a:r>
              <a:rPr lang="en-US" sz="1400" b="1"/>
              <a:t>Slide #11-12 </a:t>
            </a:r>
            <a:endParaRPr lang="en-US" sz="140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400"/>
              <a:t>Step 4 - Trade In Information display, Inventory and other tools  – </a:t>
            </a:r>
            <a:r>
              <a:rPr lang="en-US" sz="1400" b="1"/>
              <a:t>Slide #13</a:t>
            </a:r>
            <a:endParaRPr lang="en-US" sz="140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400"/>
              <a:t>Completion Rate – </a:t>
            </a:r>
            <a:r>
              <a:rPr lang="en-US" sz="1400" b="1"/>
              <a:t>Key metrics used as -  </a:t>
            </a:r>
            <a:r>
              <a:rPr lang="en-US" sz="1400" b="1">
                <a:solidFill>
                  <a:schemeClr val="tx1">
                    <a:lumMod val="50000"/>
                  </a:schemeClr>
                </a:solidFill>
                <a:latin typeface="Helvetica Neue"/>
              </a:rPr>
              <a:t>km-​trade-shown , km-​trade-start , km-​trade-complete</a:t>
            </a:r>
            <a:endParaRPr lang="en-US" sz="140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400"/>
              <a:t>Track 90 day close rates  </a:t>
            </a:r>
          </a:p>
        </p:txBody>
      </p:sp>
    </p:spTree>
    <p:extLst>
      <p:ext uri="{BB962C8B-B14F-4D97-AF65-F5344CB8AC3E}">
        <p14:creationId xmlns:p14="http://schemas.microsoft.com/office/powerpoint/2010/main" val="108316744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FB2B621-B5EB-3943-E91B-448767313677}"/>
              </a:ext>
            </a:extLst>
          </p:cNvPr>
          <p:cNvSpPr txBox="1">
            <a:spLocks/>
          </p:cNvSpPr>
          <p:nvPr/>
        </p:nvSpPr>
        <p:spPr>
          <a:xfrm>
            <a:off x="239729" y="90382"/>
            <a:ext cx="10786880" cy="4247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8905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004" b="0" i="0" u="none" strike="noStrike" kern="1200" cap="all" spc="0" baseline="0">
                <a:solidFill>
                  <a:srgbClr val="FF0000"/>
                </a:solidFill>
                <a:uFillTx/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(KBB)Trade-in value modal - “Vehicle TYPE” content View and clicks</a:t>
            </a:r>
          </a:p>
        </p:txBody>
      </p:sp>
      <p:graphicFrame>
        <p:nvGraphicFramePr>
          <p:cNvPr id="12" name="Table 29">
            <a:extLst>
              <a:ext uri="{FF2B5EF4-FFF2-40B4-BE49-F238E27FC236}">
                <a16:creationId xmlns:a16="http://schemas.microsoft.com/office/drawing/2014/main" id="{C0405BE2-2241-68D2-9537-79CEDD1A4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357416"/>
              </p:ext>
            </p:extLst>
          </p:nvPr>
        </p:nvGraphicFramePr>
        <p:xfrm>
          <a:off x="6863648" y="681792"/>
          <a:ext cx="53283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352">
                  <a:extLst>
                    <a:ext uri="{9D8B030D-6E8A-4147-A177-3AD203B41FA5}">
                      <a16:colId xmlns:a16="http://schemas.microsoft.com/office/drawing/2014/main" val="3898219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/>
                        <a:t>Tag(s) to Fire (Metrics) | </a:t>
                      </a:r>
                      <a:r>
                        <a:rPr lang="en-US" sz="800"/>
                        <a:t>Values to 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09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All server calls listed in this slide should contain the following: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47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Global Block ,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Page Block ,Trade-In Value Block</a:t>
                      </a:r>
                      <a:r>
                        <a:rPr lang="en-US" sz="800" b="0" kern="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837877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r>
                        <a:rPr lang="en-US" sz="800" dirty="0" err="1"/>
                        <a:t>app_name</a:t>
                      </a:r>
                      <a:r>
                        <a:rPr lang="en-US" sz="800" dirty="0"/>
                        <a:t> = “</a:t>
                      </a:r>
                      <a:r>
                        <a:rPr lang="en-US" sz="800" dirty="0" err="1"/>
                        <a:t>kbb</a:t>
                      </a:r>
                      <a:r>
                        <a:rPr lang="en-US" sz="800" dirty="0"/>
                        <a:t>” </a:t>
                      </a:r>
                    </a:p>
                    <a:p>
                      <a:r>
                        <a:rPr lang="en-US" sz="800" dirty="0" err="1"/>
                        <a:t>content_section</a:t>
                      </a:r>
                      <a:r>
                        <a:rPr lang="en-US" sz="800" dirty="0"/>
                        <a:t> = </a:t>
                      </a:r>
                      <a:r>
                        <a:rPr lang="en-US" sz="800" b="0" i="0" u="none" strike="noStrike" kern="0" baseline="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</a:rPr>
                        <a:t>“vehicle type”</a:t>
                      </a:r>
                      <a:endParaRPr lang="en-US" sz="800" dirty="0"/>
                    </a:p>
                    <a:p>
                      <a:r>
                        <a:rPr lang="en-US" sz="800" dirty="0" err="1"/>
                        <a:t>content_subsection</a:t>
                      </a:r>
                      <a:r>
                        <a:rPr lang="en-US" sz="800" dirty="0"/>
                        <a:t> = </a:t>
                      </a:r>
                      <a:r>
                        <a:rPr lang="en-US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“Make &amp; Model” or “VIN”</a:t>
                      </a:r>
                      <a:endParaRPr lang="en-US" sz="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44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 Page Block</a:t>
                      </a:r>
                      <a:endParaRPr lang="en-US" sz="800" b="1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078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Please see the context variables, values, and blocks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48000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“header toggle”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“make &amp; model” or “vin”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327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39535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“Basic Vehicle Info”</a:t>
                      </a:r>
                      <a:b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“year selected” , “make selected”, “model selected”, 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43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407222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“Specific Build Info”</a:t>
                      </a:r>
                      <a:b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 “trim selected”, “engine selected”, “drivetrain selected”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8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915469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“Final Details”</a:t>
                      </a:r>
                      <a:b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“color selected”, “mileage entered”, or “zip code entered”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905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240091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“privacy policy”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“Kelley blue book privacy policy”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513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77597"/>
                  </a:ext>
                </a:extLst>
              </a:tr>
              <a:tr h="30833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“next step”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“next”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“aa-link”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****</a:t>
                      </a:r>
                      <a:r>
                        <a:rPr lang="en-US" sz="800" kern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link_container</a:t>
                      </a:r>
                      <a:r>
                        <a:rPr lang="en-US" sz="800" kern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“vin used” or “no vin used”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107910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3E0736DC-266E-44B9-C1FF-F3F5B11A809C}"/>
              </a:ext>
            </a:extLst>
          </p:cNvPr>
          <p:cNvSpPr txBox="1"/>
          <p:nvPr/>
        </p:nvSpPr>
        <p:spPr>
          <a:xfrm>
            <a:off x="4223505" y="2800164"/>
            <a:ext cx="26234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FF0000"/>
                </a:solidFill>
              </a:rPr>
              <a:t>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Only fire a tag once per CTA type, such as toggle button (2), the dropdown menu (3),(4) or textbox input (5).</a:t>
            </a:r>
            <a:endParaRPr lang="en-US" sz="1000">
              <a:solidFill>
                <a:srgbClr val="FF0000"/>
              </a:solidFill>
            </a:endParaRPr>
          </a:p>
          <a:p>
            <a:endParaRPr lang="en-US" sz="1000">
              <a:solidFill>
                <a:srgbClr val="FF0000"/>
              </a:solidFill>
            </a:endParaRPr>
          </a:p>
          <a:p>
            <a:r>
              <a:rPr lang="en-US" sz="1000">
                <a:solidFill>
                  <a:srgbClr val="FF0000"/>
                </a:solidFill>
              </a:rPr>
              <a:t>***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1000" b="1">
                <a:solidFill>
                  <a:schemeClr val="tx1">
                    <a:lumMod val="50000"/>
                  </a:schemeClr>
                </a:solidFill>
              </a:rPr>
              <a:t>“km-trade-start”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should only fire once per modal load on the first click on </a:t>
            </a:r>
            <a:br>
              <a:rPr lang="en-US" sz="100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(3),(4) or (5).</a:t>
            </a:r>
          </a:p>
          <a:p>
            <a:endParaRPr lang="en-US" sz="1000">
              <a:solidFill>
                <a:schemeClr val="tx1">
                  <a:lumMod val="50000"/>
                </a:schemeClr>
              </a:solidFill>
            </a:endParaRPr>
          </a:p>
          <a:p>
            <a:endParaRPr lang="en-US" sz="1000">
              <a:solidFill>
                <a:srgbClr val="FF0000"/>
              </a:solidFill>
            </a:endParaRPr>
          </a:p>
          <a:p>
            <a:r>
              <a:rPr lang="en-US" sz="1000">
                <a:solidFill>
                  <a:srgbClr val="FF0000"/>
                </a:solidFill>
              </a:rPr>
              <a:t>****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“</a:t>
            </a:r>
            <a:r>
              <a:rPr lang="en-US" sz="1000" err="1">
                <a:solidFill>
                  <a:schemeClr val="tx1">
                    <a:lumMod val="50000"/>
                  </a:schemeClr>
                </a:solidFill>
              </a:rPr>
              <a:t>link_container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” variable value should let us know if the vin </a:t>
            </a:r>
            <a:r>
              <a:rPr lang="en-US" sz="1000" err="1">
                <a:solidFill>
                  <a:schemeClr val="tx1">
                    <a:lumMod val="50000"/>
                  </a:schemeClr>
                </a:solidFill>
              </a:rPr>
              <a:t>texbox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was used to return their vehicle information on tag (7).</a:t>
            </a:r>
          </a:p>
          <a:p>
            <a:endParaRPr lang="en-US" sz="100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1000" b="1">
                <a:solidFill>
                  <a:srgbClr val="FF0000"/>
                </a:solidFill>
              </a:rPr>
              <a:t>+</a:t>
            </a:r>
            <a:r>
              <a:rPr lang="en-US" sz="1000" b="0">
                <a:solidFill>
                  <a:schemeClr val="tx1">
                    <a:lumMod val="50000"/>
                  </a:schemeClr>
                </a:solidFill>
              </a:rPr>
              <a:t> “</a:t>
            </a:r>
            <a:r>
              <a:rPr lang="en-US" sz="1000" b="1">
                <a:solidFill>
                  <a:schemeClr val="tx1">
                    <a:lumMod val="50000"/>
                  </a:schemeClr>
                </a:solidFill>
              </a:rPr>
              <a:t>Trade-In Value Block</a:t>
            </a:r>
            <a:r>
              <a:rPr lang="en-US" sz="1000" b="0">
                <a:solidFill>
                  <a:schemeClr val="tx1">
                    <a:lumMod val="50000"/>
                  </a:schemeClr>
                </a:solidFill>
              </a:rPr>
              <a:t>” should capture all the applicable values from modal the into the appropriate variables.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34C6809-2AC3-4B6E-BA41-03BA6410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631114"/>
              </p:ext>
            </p:extLst>
          </p:nvPr>
        </p:nvGraphicFramePr>
        <p:xfrm>
          <a:off x="4213007" y="675287"/>
          <a:ext cx="2633966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966">
                  <a:extLst>
                    <a:ext uri="{9D8B030D-6E8A-4147-A177-3AD203B41FA5}">
                      <a16:colId xmlns:a16="http://schemas.microsoft.com/office/drawing/2014/main" val="2006499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Tag(s) to fire (Metrics)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18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**1. aa-</a:t>
                      </a:r>
                      <a:r>
                        <a:rPr lang="en-US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pageload,km</a:t>
                      </a: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-offers-</a:t>
                      </a:r>
                      <a:r>
                        <a:rPr lang="en-US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search,km</a:t>
                      </a: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-qualified-action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084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 2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834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 3. aa-action, km-trade-start 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5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 4. aa-action, km-trade-start 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58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 5. aa-action, km-trade-start 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96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 6. aa-action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561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7. </a:t>
                      </a:r>
                      <a:r>
                        <a:rPr lang="en-US" sz="11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aa-link</a:t>
                      </a:r>
                      <a:endParaRPr lang="en-US" sz="1100" b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920152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4FA59A29-D816-FBC6-2505-7FE8A6743878}"/>
              </a:ext>
            </a:extLst>
          </p:cNvPr>
          <p:cNvSpPr/>
          <p:nvPr/>
        </p:nvSpPr>
        <p:spPr>
          <a:xfrm>
            <a:off x="587017" y="996836"/>
            <a:ext cx="365760" cy="36576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F9368E-5018-C0A5-2F60-8F19DA7FC31D}"/>
              </a:ext>
            </a:extLst>
          </p:cNvPr>
          <p:cNvSpPr/>
          <p:nvPr/>
        </p:nvSpPr>
        <p:spPr>
          <a:xfrm>
            <a:off x="239729" y="2900524"/>
            <a:ext cx="365761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EAB196-3154-1EA5-5B73-93C93790B11A}"/>
              </a:ext>
            </a:extLst>
          </p:cNvPr>
          <p:cNvCxnSpPr>
            <a:cxnSpLocks/>
            <a:stCxn id="10" idx="6"/>
            <a:endCxn id="17" idx="1"/>
          </p:cNvCxnSpPr>
          <p:nvPr/>
        </p:nvCxnSpPr>
        <p:spPr>
          <a:xfrm>
            <a:off x="605490" y="3083404"/>
            <a:ext cx="305816" cy="5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ame 16">
            <a:extLst>
              <a:ext uri="{FF2B5EF4-FFF2-40B4-BE49-F238E27FC236}">
                <a16:creationId xmlns:a16="http://schemas.microsoft.com/office/drawing/2014/main" id="{A6AAAA04-1821-6FB3-9BA7-DA7CCD2FDD3F}"/>
              </a:ext>
            </a:extLst>
          </p:cNvPr>
          <p:cNvSpPr/>
          <p:nvPr/>
        </p:nvSpPr>
        <p:spPr>
          <a:xfrm>
            <a:off x="911306" y="2800163"/>
            <a:ext cx="2139465" cy="566492"/>
          </a:xfrm>
          <a:prstGeom prst="frame">
            <a:avLst>
              <a:gd name="adj1" fmla="val 0"/>
            </a:avLst>
          </a:prstGeom>
          <a:solidFill>
            <a:srgbClr val="003D5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F025517-AB74-1C6A-3FF6-E6198E10E6B2}"/>
              </a:ext>
            </a:extLst>
          </p:cNvPr>
          <p:cNvSpPr/>
          <p:nvPr/>
        </p:nvSpPr>
        <p:spPr>
          <a:xfrm>
            <a:off x="239729" y="3700238"/>
            <a:ext cx="365761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A5434F-21E2-C9B7-7740-D3302C667B51}"/>
              </a:ext>
            </a:extLst>
          </p:cNvPr>
          <p:cNvCxnSpPr>
            <a:cxnSpLocks/>
            <a:stCxn id="23" idx="6"/>
            <a:endCxn id="25" idx="1"/>
          </p:cNvCxnSpPr>
          <p:nvPr/>
        </p:nvCxnSpPr>
        <p:spPr>
          <a:xfrm>
            <a:off x="605490" y="3883118"/>
            <a:ext cx="305816" cy="5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ame 24">
            <a:extLst>
              <a:ext uri="{FF2B5EF4-FFF2-40B4-BE49-F238E27FC236}">
                <a16:creationId xmlns:a16="http://schemas.microsoft.com/office/drawing/2014/main" id="{A84DB57D-290D-48A0-472A-63B282F04137}"/>
              </a:ext>
            </a:extLst>
          </p:cNvPr>
          <p:cNvSpPr/>
          <p:nvPr/>
        </p:nvSpPr>
        <p:spPr>
          <a:xfrm>
            <a:off x="911306" y="3599877"/>
            <a:ext cx="2139465" cy="566492"/>
          </a:xfrm>
          <a:prstGeom prst="frame">
            <a:avLst>
              <a:gd name="adj1" fmla="val 0"/>
            </a:avLst>
          </a:prstGeom>
          <a:solidFill>
            <a:srgbClr val="003D5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1C2BFC5-F23E-AC05-6B3E-EF74D63CC20C}"/>
              </a:ext>
            </a:extLst>
          </p:cNvPr>
          <p:cNvSpPr/>
          <p:nvPr/>
        </p:nvSpPr>
        <p:spPr>
          <a:xfrm>
            <a:off x="229569" y="4471262"/>
            <a:ext cx="365761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4870A4-6DF8-96F2-0575-84AA15D77829}"/>
              </a:ext>
            </a:extLst>
          </p:cNvPr>
          <p:cNvCxnSpPr>
            <a:cxnSpLocks/>
            <a:stCxn id="27" idx="6"/>
            <a:endCxn id="29" idx="1"/>
          </p:cNvCxnSpPr>
          <p:nvPr/>
        </p:nvCxnSpPr>
        <p:spPr>
          <a:xfrm>
            <a:off x="595330" y="4654142"/>
            <a:ext cx="305816" cy="5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ame 28">
            <a:extLst>
              <a:ext uri="{FF2B5EF4-FFF2-40B4-BE49-F238E27FC236}">
                <a16:creationId xmlns:a16="http://schemas.microsoft.com/office/drawing/2014/main" id="{1E9FADCA-9AA0-0DBE-06E3-70648F76A9A0}"/>
              </a:ext>
            </a:extLst>
          </p:cNvPr>
          <p:cNvSpPr/>
          <p:nvPr/>
        </p:nvSpPr>
        <p:spPr>
          <a:xfrm>
            <a:off x="901146" y="4370901"/>
            <a:ext cx="2139465" cy="566492"/>
          </a:xfrm>
          <a:prstGeom prst="frame">
            <a:avLst>
              <a:gd name="adj1" fmla="val 0"/>
            </a:avLst>
          </a:prstGeom>
          <a:solidFill>
            <a:srgbClr val="003D5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B226B70-F6F9-3EE4-5B2F-25D8FE484EC5}"/>
              </a:ext>
            </a:extLst>
          </p:cNvPr>
          <p:cNvSpPr/>
          <p:nvPr/>
        </p:nvSpPr>
        <p:spPr>
          <a:xfrm>
            <a:off x="261525" y="5516779"/>
            <a:ext cx="365760" cy="36576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7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FB33ED3-CD6A-E2CD-9750-BEB8F0F2694B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627285" y="5699659"/>
            <a:ext cx="1727132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E366D-76BE-F276-2609-3FBB5243C9C7}"/>
              </a:ext>
            </a:extLst>
          </p:cNvPr>
          <p:cNvSpPr/>
          <p:nvPr/>
        </p:nvSpPr>
        <p:spPr>
          <a:xfrm>
            <a:off x="3284404" y="52192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9944A8-BB3A-1D8F-72F7-CE6A952997AA}"/>
              </a:ext>
            </a:extLst>
          </p:cNvPr>
          <p:cNvCxnSpPr>
            <a:cxnSpLocks/>
          </p:cNvCxnSpPr>
          <p:nvPr/>
        </p:nvCxnSpPr>
        <p:spPr>
          <a:xfrm flipH="1">
            <a:off x="2618509" y="5402098"/>
            <a:ext cx="665895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38519E2-D30B-0CA7-81C1-85BFAEDEE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56" y="1478457"/>
            <a:ext cx="3014148" cy="59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5477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B7276-76AD-B268-099E-C723BACB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83A1D1D-4FA3-DA8A-F89E-7B33958E19DC}"/>
              </a:ext>
            </a:extLst>
          </p:cNvPr>
          <p:cNvSpPr txBox="1">
            <a:spLocks/>
          </p:cNvSpPr>
          <p:nvPr/>
        </p:nvSpPr>
        <p:spPr>
          <a:xfrm>
            <a:off x="239729" y="90382"/>
            <a:ext cx="10786880" cy="4247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8905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004" b="0" i="0" u="none" strike="noStrike" kern="1200" cap="all" spc="0" baseline="0">
                <a:solidFill>
                  <a:srgbClr val="FF0000"/>
                </a:solidFill>
                <a:uFillTx/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(KBB)Trade-in value modal - “Vehicle TYPE” content View and clicks</a:t>
            </a:r>
          </a:p>
        </p:txBody>
      </p:sp>
      <p:graphicFrame>
        <p:nvGraphicFramePr>
          <p:cNvPr id="12" name="Table 29">
            <a:extLst>
              <a:ext uri="{FF2B5EF4-FFF2-40B4-BE49-F238E27FC236}">
                <a16:creationId xmlns:a16="http://schemas.microsoft.com/office/drawing/2014/main" id="{6F1DB96E-ED51-B059-3628-6A7990FC7DD2}"/>
              </a:ext>
            </a:extLst>
          </p:cNvPr>
          <p:cNvGraphicFramePr>
            <a:graphicFrameLocks noGrp="1"/>
          </p:cNvGraphicFramePr>
          <p:nvPr/>
        </p:nvGraphicFramePr>
        <p:xfrm>
          <a:off x="6863648" y="681792"/>
          <a:ext cx="53283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352">
                  <a:extLst>
                    <a:ext uri="{9D8B030D-6E8A-4147-A177-3AD203B41FA5}">
                      <a16:colId xmlns:a16="http://schemas.microsoft.com/office/drawing/2014/main" val="3898219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/>
                        <a:t>Tag(s) to Fire (Metrics) | </a:t>
                      </a:r>
                      <a:r>
                        <a:rPr lang="en-US" sz="800"/>
                        <a:t>Values to 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09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All server calls listed in this slide should contain the following: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47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Global Block ,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Page Block ,Trade-In Value Block</a:t>
                      </a:r>
                      <a:r>
                        <a:rPr lang="en-US" sz="800" b="0" kern="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837877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r>
                        <a:rPr lang="en-US" sz="800" err="1"/>
                        <a:t>app_name</a:t>
                      </a:r>
                      <a:r>
                        <a:rPr lang="en-US" sz="800"/>
                        <a:t> = “</a:t>
                      </a:r>
                      <a:r>
                        <a:rPr lang="en-US" sz="800" err="1"/>
                        <a:t>kbb</a:t>
                      </a:r>
                      <a:r>
                        <a:rPr lang="en-US" sz="800"/>
                        <a:t>” </a:t>
                      </a:r>
                    </a:p>
                    <a:p>
                      <a:r>
                        <a:rPr lang="en-US" sz="800" err="1"/>
                        <a:t>content_section</a:t>
                      </a:r>
                      <a:r>
                        <a:rPr lang="en-US" sz="800"/>
                        <a:t> = </a:t>
                      </a:r>
                      <a:r>
                        <a:rPr lang="en-US" sz="800" b="0" i="0" u="none" strike="noStrike" kern="0" baseline="0" noProof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</a:rPr>
                        <a:t>“vehicle type”</a:t>
                      </a:r>
                      <a:endParaRPr lang="en-US" sz="800"/>
                    </a:p>
                    <a:p>
                      <a:r>
                        <a:rPr lang="en-US" sz="800" err="1"/>
                        <a:t>content_subsection</a:t>
                      </a:r>
                      <a:r>
                        <a:rPr lang="en-US" sz="800"/>
                        <a:t> = </a:t>
                      </a: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“Make &amp; Model” or “VIN”</a:t>
                      </a:r>
                      <a:endParaRPr lang="en-US" sz="8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44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 Page Block</a:t>
                      </a:r>
                      <a:endParaRPr lang="en-US" sz="800" b="1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078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Please see the context variables, values, and blocks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48000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“header toggle”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“make &amp; model” or “vin”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327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39535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“Basic Vehicle Info”</a:t>
                      </a:r>
                      <a:b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“year selected” , “make selected”, “model selected”, 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43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407222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“Specific Build Info”</a:t>
                      </a:r>
                      <a:b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 “trim selected”, “engine selected”, “drivetrain selected”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8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915469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“Final Details”</a:t>
                      </a:r>
                      <a:b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“color selected”, “mileage entered”, or “zip code entered”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905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240091"/>
                  </a:ext>
                </a:extLst>
              </a:tr>
              <a:tr h="24342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“privacy policy”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“Kelley blue book privacy policy”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513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7. </a:t>
                      </a:r>
                      <a:r>
                        <a:rPr lang="en-US" sz="8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8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77597"/>
                  </a:ext>
                </a:extLst>
              </a:tr>
              <a:tr h="30833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“next step”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“next”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“aa-link”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****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link_container</a:t>
                      </a:r>
                      <a:r>
                        <a:rPr lang="en-US" sz="8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“vin used” or “no vin used”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107910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F1653B34-70BC-4699-31A1-3F3FA4615453}"/>
              </a:ext>
            </a:extLst>
          </p:cNvPr>
          <p:cNvSpPr txBox="1"/>
          <p:nvPr/>
        </p:nvSpPr>
        <p:spPr>
          <a:xfrm>
            <a:off x="4223505" y="2800164"/>
            <a:ext cx="26234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FF0000"/>
                </a:solidFill>
              </a:rPr>
              <a:t>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Only fire a tag once per CTA type, such as toggle button (2), the dropdown menu (3),(4) or textbox input (5).</a:t>
            </a:r>
            <a:endParaRPr lang="en-US" sz="1000">
              <a:solidFill>
                <a:srgbClr val="FF0000"/>
              </a:solidFill>
            </a:endParaRPr>
          </a:p>
          <a:p>
            <a:endParaRPr lang="en-US" sz="1000">
              <a:solidFill>
                <a:srgbClr val="FF0000"/>
              </a:solidFill>
            </a:endParaRPr>
          </a:p>
          <a:p>
            <a:r>
              <a:rPr lang="en-US" sz="1000">
                <a:solidFill>
                  <a:srgbClr val="FF0000"/>
                </a:solidFill>
              </a:rPr>
              <a:t>***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1000" b="1">
                <a:solidFill>
                  <a:schemeClr val="tx1">
                    <a:lumMod val="50000"/>
                  </a:schemeClr>
                </a:solidFill>
              </a:rPr>
              <a:t>“km-trade-start”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should only fire once per modal load on the first click on </a:t>
            </a:r>
            <a:br>
              <a:rPr lang="en-US" sz="100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(3),(4) or (5).</a:t>
            </a:r>
          </a:p>
          <a:p>
            <a:endParaRPr lang="en-US" sz="1000">
              <a:solidFill>
                <a:schemeClr val="tx1">
                  <a:lumMod val="50000"/>
                </a:schemeClr>
              </a:solidFill>
            </a:endParaRPr>
          </a:p>
          <a:p>
            <a:endParaRPr lang="en-US" sz="1000">
              <a:solidFill>
                <a:srgbClr val="FF0000"/>
              </a:solidFill>
            </a:endParaRPr>
          </a:p>
          <a:p>
            <a:r>
              <a:rPr lang="en-US" sz="1000">
                <a:solidFill>
                  <a:srgbClr val="FF0000"/>
                </a:solidFill>
              </a:rPr>
              <a:t>****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“</a:t>
            </a:r>
            <a:r>
              <a:rPr lang="en-US" sz="1000" err="1">
                <a:solidFill>
                  <a:schemeClr val="tx1">
                    <a:lumMod val="50000"/>
                  </a:schemeClr>
                </a:solidFill>
              </a:rPr>
              <a:t>link_container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” variable value should let us know if the vin </a:t>
            </a:r>
            <a:r>
              <a:rPr lang="en-US" sz="1000" err="1">
                <a:solidFill>
                  <a:schemeClr val="tx1">
                    <a:lumMod val="50000"/>
                  </a:schemeClr>
                </a:solidFill>
              </a:rPr>
              <a:t>texbox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was used to return their vehicle information on tag (7).</a:t>
            </a:r>
          </a:p>
          <a:p>
            <a:endParaRPr lang="en-US" sz="100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1000" b="1">
                <a:solidFill>
                  <a:srgbClr val="FF0000"/>
                </a:solidFill>
              </a:rPr>
              <a:t>+</a:t>
            </a:r>
            <a:r>
              <a:rPr lang="en-US" sz="1000" b="0">
                <a:solidFill>
                  <a:schemeClr val="tx1">
                    <a:lumMod val="50000"/>
                  </a:schemeClr>
                </a:solidFill>
              </a:rPr>
              <a:t> “</a:t>
            </a:r>
            <a:r>
              <a:rPr lang="en-US" sz="1000" b="1">
                <a:solidFill>
                  <a:schemeClr val="tx1">
                    <a:lumMod val="50000"/>
                  </a:schemeClr>
                </a:solidFill>
              </a:rPr>
              <a:t>Trade-In Value Block</a:t>
            </a:r>
            <a:r>
              <a:rPr lang="en-US" sz="1000" b="0">
                <a:solidFill>
                  <a:schemeClr val="tx1">
                    <a:lumMod val="50000"/>
                  </a:schemeClr>
                </a:solidFill>
              </a:rPr>
              <a:t>” should capture all the applicable values from modal the into the appropriate variables.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3FE921A-34F0-038E-7BB3-FB8E2F8AB68A}"/>
              </a:ext>
            </a:extLst>
          </p:cNvPr>
          <p:cNvGraphicFramePr>
            <a:graphicFrameLocks noGrp="1"/>
          </p:cNvGraphicFramePr>
          <p:nvPr/>
        </p:nvGraphicFramePr>
        <p:xfrm>
          <a:off x="4213007" y="675287"/>
          <a:ext cx="2633966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966">
                  <a:extLst>
                    <a:ext uri="{9D8B030D-6E8A-4147-A177-3AD203B41FA5}">
                      <a16:colId xmlns:a16="http://schemas.microsoft.com/office/drawing/2014/main" val="2006499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Tag(s) to fire (Metrics)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18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 aa-</a:t>
                      </a:r>
                      <a:r>
                        <a:rPr lang="en-US" sz="1100" b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pageload</a:t>
                      </a: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100" b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/>
                        </a:rPr>
                        <a:t>km-​trade-shown</a:t>
                      </a:r>
                      <a:endParaRPr lang="en-US" sz="1100" b="1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084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** 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 aa-action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834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** </a:t>
                      </a:r>
                      <a:r>
                        <a:rPr lang="en-US" sz="11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aa-action, </a:t>
                      </a:r>
                      <a:r>
                        <a:rPr lang="en-US" sz="1100" b="1" i="0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km-trade-start </a:t>
                      </a:r>
                      <a:r>
                        <a:rPr lang="en-US" sz="1100" b="1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***</a:t>
                      </a:r>
                      <a:endParaRPr lang="en-US" sz="11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5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** </a:t>
                      </a: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4. 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aa-action, </a:t>
                      </a:r>
                      <a:r>
                        <a:rPr lang="en-US" sz="1100" b="1" i="0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km-trade-start </a:t>
                      </a:r>
                      <a:r>
                        <a:rPr lang="en-US" sz="1100" b="1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58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**</a:t>
                      </a: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5. 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aa-action, </a:t>
                      </a:r>
                      <a:r>
                        <a:rPr lang="en-US" sz="1100" b="1" i="0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km-trade-start </a:t>
                      </a:r>
                      <a:r>
                        <a:rPr lang="en-US" sz="1100" b="1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***</a:t>
                      </a:r>
                      <a:endParaRPr lang="en-US" sz="11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96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**</a:t>
                      </a: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6. 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aa-action</a:t>
                      </a:r>
                      <a:endParaRPr lang="en-US" sz="11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561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7. 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aa-link</a:t>
                      </a:r>
                      <a:endParaRPr lang="en-US" sz="1100" b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92015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B2EE909-9253-6D72-A17C-BEFA651AE5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41"/>
          <a:stretch>
            <a:fillRect/>
          </a:stretch>
        </p:blipFill>
        <p:spPr>
          <a:xfrm>
            <a:off x="587017" y="906086"/>
            <a:ext cx="2819530" cy="495507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0B3C62E-A656-1EC6-3356-C105FC24DD72}"/>
              </a:ext>
            </a:extLst>
          </p:cNvPr>
          <p:cNvSpPr/>
          <p:nvPr/>
        </p:nvSpPr>
        <p:spPr>
          <a:xfrm>
            <a:off x="587017" y="996836"/>
            <a:ext cx="365760" cy="36576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7B41D3-F141-52A8-C4AC-472609942CEF}"/>
              </a:ext>
            </a:extLst>
          </p:cNvPr>
          <p:cNvSpPr/>
          <p:nvPr/>
        </p:nvSpPr>
        <p:spPr>
          <a:xfrm>
            <a:off x="259610" y="2285095"/>
            <a:ext cx="365760" cy="36576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88FDA9-D89D-D6AF-ED26-653308147666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625370" y="2467975"/>
            <a:ext cx="666656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8D0CBDD-08EE-6297-B1A3-8A63B6544D0C}"/>
              </a:ext>
            </a:extLst>
          </p:cNvPr>
          <p:cNvSpPr/>
          <p:nvPr/>
        </p:nvSpPr>
        <p:spPr>
          <a:xfrm>
            <a:off x="239729" y="2900524"/>
            <a:ext cx="365761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EA9ED5-19B6-CBB3-2B18-7781186AA7D9}"/>
              </a:ext>
            </a:extLst>
          </p:cNvPr>
          <p:cNvCxnSpPr>
            <a:cxnSpLocks/>
            <a:stCxn id="10" idx="6"/>
            <a:endCxn id="17" idx="1"/>
          </p:cNvCxnSpPr>
          <p:nvPr/>
        </p:nvCxnSpPr>
        <p:spPr>
          <a:xfrm>
            <a:off x="605490" y="3083404"/>
            <a:ext cx="305816" cy="5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ame 16">
            <a:extLst>
              <a:ext uri="{FF2B5EF4-FFF2-40B4-BE49-F238E27FC236}">
                <a16:creationId xmlns:a16="http://schemas.microsoft.com/office/drawing/2014/main" id="{3D77226F-2B09-F7BE-7194-FD8C96B7E92D}"/>
              </a:ext>
            </a:extLst>
          </p:cNvPr>
          <p:cNvSpPr/>
          <p:nvPr/>
        </p:nvSpPr>
        <p:spPr>
          <a:xfrm>
            <a:off x="911306" y="2800163"/>
            <a:ext cx="2139465" cy="566492"/>
          </a:xfrm>
          <a:prstGeom prst="frame">
            <a:avLst>
              <a:gd name="adj1" fmla="val 0"/>
            </a:avLst>
          </a:prstGeom>
          <a:solidFill>
            <a:srgbClr val="003D5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470BB8-150D-1CF5-E81B-4B515C5A538E}"/>
              </a:ext>
            </a:extLst>
          </p:cNvPr>
          <p:cNvSpPr/>
          <p:nvPr/>
        </p:nvSpPr>
        <p:spPr>
          <a:xfrm>
            <a:off x="239729" y="3700238"/>
            <a:ext cx="365761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3F030A-0B8B-634E-BACA-779251B535C5}"/>
              </a:ext>
            </a:extLst>
          </p:cNvPr>
          <p:cNvCxnSpPr>
            <a:cxnSpLocks/>
            <a:stCxn id="23" idx="6"/>
            <a:endCxn id="25" idx="1"/>
          </p:cNvCxnSpPr>
          <p:nvPr/>
        </p:nvCxnSpPr>
        <p:spPr>
          <a:xfrm>
            <a:off x="605490" y="3883118"/>
            <a:ext cx="305816" cy="5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ame 24">
            <a:extLst>
              <a:ext uri="{FF2B5EF4-FFF2-40B4-BE49-F238E27FC236}">
                <a16:creationId xmlns:a16="http://schemas.microsoft.com/office/drawing/2014/main" id="{BCF75EDF-A122-6E5D-E560-AAFABA8B36B9}"/>
              </a:ext>
            </a:extLst>
          </p:cNvPr>
          <p:cNvSpPr/>
          <p:nvPr/>
        </p:nvSpPr>
        <p:spPr>
          <a:xfrm>
            <a:off x="911306" y="3599877"/>
            <a:ext cx="2139465" cy="566492"/>
          </a:xfrm>
          <a:prstGeom prst="frame">
            <a:avLst>
              <a:gd name="adj1" fmla="val 0"/>
            </a:avLst>
          </a:prstGeom>
          <a:solidFill>
            <a:srgbClr val="003D5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18A13B-F6FB-E1A8-ABDF-02966E35CF21}"/>
              </a:ext>
            </a:extLst>
          </p:cNvPr>
          <p:cNvSpPr/>
          <p:nvPr/>
        </p:nvSpPr>
        <p:spPr>
          <a:xfrm>
            <a:off x="229569" y="4471262"/>
            <a:ext cx="365761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9ADDA2-EFE8-346C-AE96-8ADFBCFB61BD}"/>
              </a:ext>
            </a:extLst>
          </p:cNvPr>
          <p:cNvCxnSpPr>
            <a:cxnSpLocks/>
            <a:stCxn id="27" idx="6"/>
            <a:endCxn id="29" idx="1"/>
          </p:cNvCxnSpPr>
          <p:nvPr/>
        </p:nvCxnSpPr>
        <p:spPr>
          <a:xfrm>
            <a:off x="595330" y="4654142"/>
            <a:ext cx="305816" cy="5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ame 28">
            <a:extLst>
              <a:ext uri="{FF2B5EF4-FFF2-40B4-BE49-F238E27FC236}">
                <a16:creationId xmlns:a16="http://schemas.microsoft.com/office/drawing/2014/main" id="{3AD2E8F2-E776-302F-03CE-F831C4980C70}"/>
              </a:ext>
            </a:extLst>
          </p:cNvPr>
          <p:cNvSpPr/>
          <p:nvPr/>
        </p:nvSpPr>
        <p:spPr>
          <a:xfrm>
            <a:off x="901146" y="4370901"/>
            <a:ext cx="2139465" cy="566492"/>
          </a:xfrm>
          <a:prstGeom prst="frame">
            <a:avLst>
              <a:gd name="adj1" fmla="val 0"/>
            </a:avLst>
          </a:prstGeom>
          <a:solidFill>
            <a:srgbClr val="003D5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063520A-9686-385E-5989-17DD5ECBC374}"/>
              </a:ext>
            </a:extLst>
          </p:cNvPr>
          <p:cNvSpPr/>
          <p:nvPr/>
        </p:nvSpPr>
        <p:spPr>
          <a:xfrm>
            <a:off x="261525" y="5516779"/>
            <a:ext cx="365760" cy="36576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7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49F79CF-DC30-F133-D83D-79E6ED47DEDB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627285" y="5699659"/>
            <a:ext cx="1727132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BE6BA31-D39F-44DE-2F61-D9E33034B3E6}"/>
              </a:ext>
            </a:extLst>
          </p:cNvPr>
          <p:cNvSpPr/>
          <p:nvPr/>
        </p:nvSpPr>
        <p:spPr>
          <a:xfrm>
            <a:off x="3284404" y="52192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47DEEF-3C42-AB5A-176B-3AD78DADE354}"/>
              </a:ext>
            </a:extLst>
          </p:cNvPr>
          <p:cNvCxnSpPr>
            <a:cxnSpLocks/>
          </p:cNvCxnSpPr>
          <p:nvPr/>
        </p:nvCxnSpPr>
        <p:spPr>
          <a:xfrm flipH="1">
            <a:off x="2618509" y="5402098"/>
            <a:ext cx="665895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39580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63EE-F99E-9DAB-3DCE-26162210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0D9001-3812-9991-8338-3A589A7FE514}"/>
              </a:ext>
            </a:extLst>
          </p:cNvPr>
          <p:cNvSpPr txBox="1">
            <a:spLocks/>
          </p:cNvSpPr>
          <p:nvPr/>
        </p:nvSpPr>
        <p:spPr>
          <a:xfrm>
            <a:off x="239729" y="90382"/>
            <a:ext cx="10786880" cy="4247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8905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004" b="0" i="0" u="none" strike="noStrike" kern="1200" cap="all" spc="0" baseline="0">
                <a:solidFill>
                  <a:srgbClr val="FF0000"/>
                </a:solidFill>
                <a:uFillTx/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(KBB)Trade-in value modal - “Vehicle TYPE” content View and clicks</a:t>
            </a:r>
          </a:p>
        </p:txBody>
      </p:sp>
      <p:graphicFrame>
        <p:nvGraphicFramePr>
          <p:cNvPr id="12" name="Table 29">
            <a:extLst>
              <a:ext uri="{FF2B5EF4-FFF2-40B4-BE49-F238E27FC236}">
                <a16:creationId xmlns:a16="http://schemas.microsoft.com/office/drawing/2014/main" id="{E00EB088-959D-1158-DD07-3B430290FAAE}"/>
              </a:ext>
            </a:extLst>
          </p:cNvPr>
          <p:cNvGraphicFramePr>
            <a:graphicFrameLocks noGrp="1"/>
          </p:cNvGraphicFramePr>
          <p:nvPr/>
        </p:nvGraphicFramePr>
        <p:xfrm>
          <a:off x="6863648" y="681792"/>
          <a:ext cx="5328352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352">
                  <a:extLst>
                    <a:ext uri="{9D8B030D-6E8A-4147-A177-3AD203B41FA5}">
                      <a16:colId xmlns:a16="http://schemas.microsoft.com/office/drawing/2014/main" val="3898219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/>
                        <a:t>Tag(s) to Fire (Metrics) | </a:t>
                      </a:r>
                      <a:r>
                        <a:rPr lang="en-US" sz="800"/>
                        <a:t>Values to 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09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All server calls listed in this slide should contain the following: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47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Global Block , </a:t>
                      </a:r>
                      <a:r>
                        <a:rPr lang="en-US" sz="9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Page Block ,Trade-In Value Block</a:t>
                      </a:r>
                      <a:r>
                        <a:rPr lang="en-US" sz="900" b="0" kern="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837877"/>
                  </a:ext>
                </a:extLst>
              </a:tr>
              <a:tr h="186916">
                <a:tc>
                  <a:txBody>
                    <a:bodyPr/>
                    <a:lstStyle/>
                    <a:p>
                      <a:r>
                        <a:rPr lang="en-US" sz="900" err="1"/>
                        <a:t>app_name</a:t>
                      </a:r>
                      <a:r>
                        <a:rPr lang="en-US" sz="900"/>
                        <a:t> = “</a:t>
                      </a:r>
                      <a:r>
                        <a:rPr lang="en-US" sz="900" err="1"/>
                        <a:t>kbb</a:t>
                      </a:r>
                      <a:r>
                        <a:rPr lang="en-US" sz="900"/>
                        <a:t>” </a:t>
                      </a:r>
                    </a:p>
                    <a:p>
                      <a:r>
                        <a:rPr lang="en-US" sz="900" err="1"/>
                        <a:t>content_section</a:t>
                      </a:r>
                      <a:r>
                        <a:rPr lang="en-US" sz="900"/>
                        <a:t> = “</a:t>
                      </a:r>
                      <a:r>
                        <a:rPr lang="en-US" sz="900" b="0" i="0" u="none" strike="noStrike" kern="0" baseline="0" noProof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</a:rPr>
                        <a:t>vehicle type</a:t>
                      </a:r>
                      <a:r>
                        <a:rPr lang="en-US" sz="900"/>
                        <a:t>”</a:t>
                      </a:r>
                    </a:p>
                    <a:p>
                      <a:r>
                        <a:rPr lang="en-US" sz="900" err="1"/>
                        <a:t>content_subsection</a:t>
                      </a:r>
                      <a:r>
                        <a:rPr lang="en-US" sz="900"/>
                        <a:t> = </a:t>
                      </a:r>
                      <a:r>
                        <a:rPr lang="en-US" sz="900" b="0" i="0" u="none" strike="noStrike" kern="0" baseline="0" noProof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</a:rPr>
                        <a:t>“vin”</a:t>
                      </a:r>
                      <a:endParaRPr lang="en-US" sz="9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442879"/>
                  </a:ext>
                </a:extLst>
              </a:tr>
              <a:tr h="186916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 </a:t>
                      </a:r>
                      <a:r>
                        <a:rPr lang="en-US" sz="9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9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264931"/>
                  </a:ext>
                </a:extLst>
              </a:tr>
              <a:tr h="18691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“header toggle”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“make &amp; model” or “vin”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910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 </a:t>
                      </a:r>
                      <a:r>
                        <a:rPr lang="en-US" sz="9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900" b="1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078811"/>
                  </a:ext>
                </a:extLst>
              </a:tr>
              <a:tr h="18691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“vin”</a:t>
                      </a:r>
                    </a:p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“vin entered”, “mileage entered”, or “zip code entered”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3. </a:t>
                      </a:r>
                      <a:r>
                        <a:rPr lang="en-US" sz="9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9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48000"/>
                  </a:ext>
                </a:extLst>
              </a:tr>
              <a:tr h="18691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“vin”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“need help finding your vin? 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“aa-action”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327650"/>
                  </a:ext>
                </a:extLst>
              </a:tr>
              <a:tr h="135939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4. </a:t>
                      </a:r>
                      <a:r>
                        <a:rPr lang="en-US" sz="900" b="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 Block </a:t>
                      </a:r>
                      <a:endParaRPr lang="en-US" sz="900" kern="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514508"/>
                  </a:ext>
                </a:extLst>
              </a:tr>
              <a:tr h="2888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link_type_title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“next step”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link_text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“next”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link_trigger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“aa-link”</a:t>
                      </a:r>
                    </a:p>
                    <a:p>
                      <a:pPr marL="0" algn="l" defTabSz="56671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kern="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****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0" baseline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link_container</a:t>
                      </a:r>
                      <a:r>
                        <a:rPr lang="en-US" sz="900" kern="0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= “vin used” or “no vin used”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860317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10472EF8-44A3-0DDD-0BAF-A87DBC5B62A1}"/>
              </a:ext>
            </a:extLst>
          </p:cNvPr>
          <p:cNvSpPr txBox="1"/>
          <p:nvPr/>
        </p:nvSpPr>
        <p:spPr>
          <a:xfrm>
            <a:off x="4223505" y="2800164"/>
            <a:ext cx="26234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FF0000"/>
                </a:solidFill>
              </a:rPr>
              <a:t>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Only fire a tag once per CTA type, such as toggle button (1), textbox input (2).</a:t>
            </a:r>
            <a:endParaRPr lang="en-US" sz="1000">
              <a:solidFill>
                <a:srgbClr val="FF0000"/>
              </a:solidFill>
            </a:endParaRPr>
          </a:p>
          <a:p>
            <a:endParaRPr lang="en-US" sz="1000">
              <a:solidFill>
                <a:srgbClr val="FF0000"/>
              </a:solidFill>
            </a:endParaRPr>
          </a:p>
          <a:p>
            <a:r>
              <a:rPr lang="en-US" sz="1000">
                <a:solidFill>
                  <a:srgbClr val="FF0000"/>
                </a:solidFill>
              </a:rPr>
              <a:t>***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1000" b="1">
                <a:solidFill>
                  <a:schemeClr val="tx1">
                    <a:lumMod val="50000"/>
                  </a:schemeClr>
                </a:solidFill>
              </a:rPr>
              <a:t>“km-trade-start”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should only fire once per modal load on the first click on (2)</a:t>
            </a:r>
          </a:p>
          <a:p>
            <a:endParaRPr lang="en-US" sz="100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1000" b="1">
                <a:solidFill>
                  <a:srgbClr val="FF0000"/>
                </a:solidFill>
              </a:rPr>
              <a:t>+</a:t>
            </a:r>
            <a:r>
              <a:rPr lang="en-US" sz="1000" b="0">
                <a:solidFill>
                  <a:schemeClr val="tx1">
                    <a:lumMod val="50000"/>
                  </a:schemeClr>
                </a:solidFill>
              </a:rPr>
              <a:t> “</a:t>
            </a:r>
            <a:r>
              <a:rPr lang="en-US" sz="1000" b="1">
                <a:solidFill>
                  <a:schemeClr val="tx1">
                    <a:lumMod val="50000"/>
                  </a:schemeClr>
                </a:solidFill>
              </a:rPr>
              <a:t>Trade-In Value Block</a:t>
            </a:r>
            <a:r>
              <a:rPr lang="en-US" sz="1000" b="0">
                <a:solidFill>
                  <a:schemeClr val="tx1">
                    <a:lumMod val="50000"/>
                  </a:schemeClr>
                </a:solidFill>
              </a:rPr>
              <a:t>” should capture all the applicable values from modal the into the appropriate variables.</a:t>
            </a:r>
          </a:p>
          <a:p>
            <a:endParaRPr lang="en-US" sz="100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1000">
                <a:solidFill>
                  <a:srgbClr val="FF0000"/>
                </a:solidFill>
              </a:rPr>
              <a:t>**** 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“</a:t>
            </a:r>
            <a:r>
              <a:rPr lang="en-US" sz="1000" err="1">
                <a:solidFill>
                  <a:schemeClr val="tx1">
                    <a:lumMod val="50000"/>
                  </a:schemeClr>
                </a:solidFill>
              </a:rPr>
              <a:t>link_container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” variable value should let us know if the vin </a:t>
            </a:r>
            <a:r>
              <a:rPr lang="en-US" sz="1000" err="1">
                <a:solidFill>
                  <a:schemeClr val="tx1">
                    <a:lumMod val="50000"/>
                  </a:schemeClr>
                </a:solidFill>
              </a:rPr>
              <a:t>texbox</a:t>
            </a:r>
            <a:r>
              <a:rPr lang="en-US" sz="1000">
                <a:solidFill>
                  <a:schemeClr val="tx1">
                    <a:lumMod val="50000"/>
                  </a:schemeClr>
                </a:solidFill>
              </a:rPr>
              <a:t> was used to return their vehicle information on tag (4).</a:t>
            </a:r>
          </a:p>
          <a:p>
            <a:endParaRPr lang="en-US" sz="1000" b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FBAD77C-E628-38AC-D2BA-DDC795F960C6}"/>
              </a:ext>
            </a:extLst>
          </p:cNvPr>
          <p:cNvGraphicFramePr>
            <a:graphicFrameLocks noGrp="1"/>
          </p:cNvGraphicFramePr>
          <p:nvPr/>
        </p:nvGraphicFramePr>
        <p:xfrm>
          <a:off x="4213007" y="675287"/>
          <a:ext cx="2633966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966">
                  <a:extLst>
                    <a:ext uri="{9D8B030D-6E8A-4147-A177-3AD203B41FA5}">
                      <a16:colId xmlns:a16="http://schemas.microsoft.com/office/drawing/2014/main" val="2006499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Tag(s) to fire (Metrics)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18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** </a:t>
                      </a: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. aa-action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084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** </a:t>
                      </a: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. aa-action, </a:t>
                      </a:r>
                      <a:r>
                        <a:rPr lang="en-US" sz="1100" b="1" i="0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km-trade-start </a:t>
                      </a:r>
                      <a:r>
                        <a:rPr lang="en-US" sz="1100" b="1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***</a:t>
                      </a:r>
                      <a:endParaRPr lang="en-US" sz="11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834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** </a:t>
                      </a: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. aa-action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26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5667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4. </a:t>
                      </a: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aa-link</a:t>
                      </a:r>
                      <a:endParaRPr lang="en-US" sz="1100" b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9242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64D325C-7D70-5465-D8AF-09DA2F24A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408" y="1094529"/>
            <a:ext cx="3677757" cy="442551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CD16E5BD-E46D-67EC-714C-EA4DEFF7B83D}"/>
              </a:ext>
            </a:extLst>
          </p:cNvPr>
          <p:cNvSpPr/>
          <p:nvPr/>
        </p:nvSpPr>
        <p:spPr>
          <a:xfrm>
            <a:off x="71528" y="3429000"/>
            <a:ext cx="365760" cy="36576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CD871B-6C96-A49D-7D21-FCF6EDE052ED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437288" y="3611880"/>
            <a:ext cx="302349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ame 25">
            <a:extLst>
              <a:ext uri="{FF2B5EF4-FFF2-40B4-BE49-F238E27FC236}">
                <a16:creationId xmlns:a16="http://schemas.microsoft.com/office/drawing/2014/main" id="{8D298161-80E4-DB68-B9EA-6DA19F792776}"/>
              </a:ext>
            </a:extLst>
          </p:cNvPr>
          <p:cNvSpPr/>
          <p:nvPr/>
        </p:nvSpPr>
        <p:spPr>
          <a:xfrm>
            <a:off x="731305" y="3326624"/>
            <a:ext cx="2751728" cy="821413"/>
          </a:xfrm>
          <a:prstGeom prst="frame">
            <a:avLst>
              <a:gd name="adj1" fmla="val 0"/>
            </a:avLst>
          </a:prstGeom>
          <a:solidFill>
            <a:srgbClr val="003D5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D2022FD-B079-BF04-1CA4-463D954DEF5F}"/>
              </a:ext>
            </a:extLst>
          </p:cNvPr>
          <p:cNvSpPr/>
          <p:nvPr/>
        </p:nvSpPr>
        <p:spPr>
          <a:xfrm>
            <a:off x="146293" y="4057575"/>
            <a:ext cx="365760" cy="36576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94BB2A-E547-C7A1-AA42-8E296FF6AB9D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512053" y="4240455"/>
            <a:ext cx="302349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642AC89B-6216-3772-170A-3344248736C1}"/>
              </a:ext>
            </a:extLst>
          </p:cNvPr>
          <p:cNvSpPr/>
          <p:nvPr/>
        </p:nvSpPr>
        <p:spPr>
          <a:xfrm>
            <a:off x="3838934" y="5145973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97BE093-6F07-5763-B861-BF2BD31923B3}"/>
              </a:ext>
            </a:extLst>
          </p:cNvPr>
          <p:cNvCxnSpPr>
            <a:cxnSpLocks/>
          </p:cNvCxnSpPr>
          <p:nvPr/>
        </p:nvCxnSpPr>
        <p:spPr>
          <a:xfrm flipH="1">
            <a:off x="3173039" y="5328853"/>
            <a:ext cx="665895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046C6550-7F0C-CF83-42F4-B976508475C9}"/>
              </a:ext>
            </a:extLst>
          </p:cNvPr>
          <p:cNvSpPr/>
          <p:nvPr/>
        </p:nvSpPr>
        <p:spPr>
          <a:xfrm>
            <a:off x="71528" y="2938551"/>
            <a:ext cx="365760" cy="36576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857C85-9CC5-970A-98FE-5B0E6D8B8945}"/>
              </a:ext>
            </a:extLst>
          </p:cNvPr>
          <p:cNvCxnSpPr>
            <a:cxnSpLocks/>
            <a:stCxn id="38" idx="6"/>
          </p:cNvCxnSpPr>
          <p:nvPr/>
        </p:nvCxnSpPr>
        <p:spPr>
          <a:xfrm>
            <a:off x="437288" y="3121431"/>
            <a:ext cx="666656" cy="0"/>
          </a:xfrm>
          <a:prstGeom prst="straightConnector1">
            <a:avLst/>
          </a:prstGeom>
          <a:ln w="12700" cap="rnd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9971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bb3c382-541a-4789-80ed-24b21ea5b276}" enabled="1" method="Standard" siteId="{8c642d1d-d709-47b0-ab10-080af10798f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1471</Words>
  <Application>Microsoft Office PowerPoint</Application>
  <PresentationFormat>Widescreen</PresentationFormat>
  <Paragraphs>172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Helvetica Neue</vt:lpstr>
      <vt:lpstr>Meiyo</vt:lpstr>
      <vt:lpstr>Office Theme</vt:lpstr>
      <vt:lpstr>PowerPoint Presentation</vt:lpstr>
      <vt:lpstr>PowerPoint Presentation</vt:lpstr>
      <vt:lpstr>TAGGING DECK REFERENCE</vt:lpstr>
      <vt:lpstr>Business requirements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Srivastava (TMNA)</dc:creator>
  <cp:lastModifiedBy>Srishti Srivastava (TMNA)</cp:lastModifiedBy>
  <cp:revision>1</cp:revision>
  <dcterms:created xsi:type="dcterms:W3CDTF">2026-02-25T16:56:20Z</dcterms:created>
  <dcterms:modified xsi:type="dcterms:W3CDTF">2026-02-26T06:15:58Z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•• PROTECTED 関係者外秘</vt:lpwstr>
  </property>
</Properties>
</file>